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1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01. INTRODUCTION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Project motivations, HMI background, and previous works review.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02. SYSTEM DESIGN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Overall system block diagram and hardware-software signal flow.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03. TRANSMITTER HARDWARE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ESP32 transmitter board, wearable glove assembly, and MPU6050 sensor.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04. RECEIVER HARDWARE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ESP32 receiver board, dual L298N drivers, and four 200 RPM BO motors.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05. CIRCUIT INTEGRATION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Direct GPIO schematic connections and common grounding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06. WIRELESS PROTOCOL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ESP-NOW protocol, connectionless peer-to-peer latency, and MAC pairing.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07. WHEEL KINEMATICS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Mecanum wheel force vectors and the holonomic movement control matrix.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08. CONTROL ALGORITHMS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Trigonometric Pitch and Roll calculation, filters, and code listings.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09. CALIBRATION &amp; ASSEMBLY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Sensor threshold configuration and wearable glove prototype build.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10. TESTING &amp; FUTURE SCOPE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Performance metrics (8 ms latency, 45 m range) and next steps.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1. Introduction &amp; 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2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Intuitive Human-Machine Interfaces (HMI)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Standard controllers (joysticks, remote control pads) require physical contact, manual dexterity, and training. Gesture-based steering offers an intuitive, hands-free interface.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Gesture-Based Motion Mapping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Translates natural hand tilts into system command vectors. Tilting the hand forward, backward, left, or right coordinates physical direction changes in real-time.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ESP32/ESP-NOW Architecture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Using Espressif's connectionless protocol reduces transmission latency to a minimum, bypassing the handshaking delays and router pairing required in traditional Wi-Fi setups.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Real-World Application Scope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Highly applicable to heavy warehouse logistics, search-and-rescue assistance in hazardous areas, and assistive mobility interfaces for disabled individuals.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2. System Architecture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3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Transmitter Wearable Glove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Interfaced with the MPU6050 motion sensor. Tracks static gravity vectors to compute wrist orientation (Pitch and Roll).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ESP-NOW Direct Communication Link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Broadcasts structured packets over the 2.4 GHz band directly to the receiver's physical MAC address, minimizing delay.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Receiver Mobile Chassis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Decodes structural packets and drives dual L298N H-Bridge motor drivers to regulate the speed and direction of all four wheels.</a:t>
            </a:r>
          </a:p>
        </p:txBody>
      </p:sp>
      <p:pic>
        <p:nvPicPr>
          <p:cNvPr id="8" name="Picture 7" descr="block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029200" cy="4023360"/>
          </a:xfrm>
          <a:prstGeom prst="rect">
            <a:avLst/>
          </a:prstGeom>
          <a:ln w="12700">
            <a:solidFill>
              <a:srgbClr val="DCDCDC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3. Transmitter Hardware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4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ESP32 Development Board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Features a 32-bit dual-core processor running at 240 MHz. Handles sensor initialization, complementary filtering, and ESP-NOW broadcasts.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MPU6050 6-Axis Motion Sensor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Combines a 3-axis accelerometer and a 3-axis gyroscope on a single silicon die. Transmits orientation vectors over the hardware I2C bus.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Physical Interface Connections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Operates at 3.3V. SCL is mapped to GPIO 22 and SDA is mapped to GPIO 21 on the transmitter board.</a:t>
            </a:r>
          </a:p>
        </p:txBody>
      </p:sp>
      <p:pic>
        <p:nvPicPr>
          <p:cNvPr id="8" name="Picture 7" descr="comp-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029200" cy="4023360"/>
          </a:xfrm>
          <a:prstGeom prst="rect">
            <a:avLst/>
          </a:prstGeom>
          <a:ln w="12700">
            <a:solidFill>
              <a:srgbClr val="DCDCD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4. Receiver Hardware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5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ESP32 Receiver Board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Runs a dedicated ESP-NOW receiver callback routine. Decodes incoming packets and outputs logic commands and PWM values.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Dual L298N H-Bridge Drivers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Split into Front and Back configurations. Handles up to 2A per channel to power the motors without overloading the microcontrollers.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Actuators &amp; 7.4V Power Supply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Four 200 RPM dual shaft BO geared motors provide optimal torque, driven by two series-wired 18650 Lithium-Ion batteries.</a:t>
            </a:r>
          </a:p>
        </p:txBody>
      </p:sp>
      <p:pic>
        <p:nvPicPr>
          <p:cNvPr id="8" name="Picture 7" descr="comp-img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029200" cy="4023360"/>
          </a:xfrm>
          <a:prstGeom prst="rect">
            <a:avLst/>
          </a:prstGeom>
          <a:ln w="12700">
            <a:solidFill>
              <a:srgbClr val="DCDCD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5. Circuit Integration &amp; Wiring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6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Direct GPIO Connection Mapping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Maintains dedicated pins (ENA, IN1-IN4, ENB) for both the Front and Back motor drivers to support independent wheel speed.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PWM Signal Modulation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ESP32 outputs analog-mapped PWM speed controls (range 0-255) to L298N enable pins to smooth acceleration and cornering.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Isolated Power &amp; Common Ground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Tying all GND pins together establishes a common reference voltage, preventing motor back-EMF spikes from causing microcontroller resets.</a:t>
            </a:r>
          </a:p>
        </p:txBody>
      </p:sp>
      <p:pic>
        <p:nvPicPr>
          <p:cNvPr id="8" name="Picture 7" descr="l298n_motordriver_pinout_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029200" cy="4023360"/>
          </a:xfrm>
          <a:prstGeom prst="rect">
            <a:avLst/>
          </a:prstGeom>
          <a:ln w="12700">
            <a:solidFill>
              <a:srgbClr val="DCDCD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6. Wireless Protocol: ESP-NOW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7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Connectionless Packet Transfer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Operates at 2.4 GHz, broadcasting command payloads directly without routing through a local wireless router.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Ultra-Low Latency Performance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Command transmission time is restricted to under 10 ms, ensuring instant reaction compared to standard Bluetooth or Wi-Fi pairings.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Unicast MAC Address Registration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Secure peer-to-peer connection is established by programming the receiver ESP32's unique physical 48-bit MAC address into the transmitter.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Signal Reliability and Range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Built-in CRC check and direct pairing deliver high noise immunity and a stable control range of up to 45 meters under line-of-sight conditions.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7. Mecanum Wheel Kinematics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8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Holonomic Mobility Control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Rollers mounted at 45-degree angles on the wheel perimeter create diagonal force vectors, allowing 360-degree translation.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Movement Control Matrix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Varying the rotational speed and direction of individual wheels enables lateral sliding, diagonal steering, and spot rotation.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0" y="1645920"/>
          <a:ext cx="5943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6705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 Wheel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 Wheel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 Wheel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BR Wheel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Backward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Lateral Left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Lateral Right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Forward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Stop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Stop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Stop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Stop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C3C3C"/>
                          </a:solidFill>
                          <a:latin typeface="Calibri"/>
                        </a:defRPr>
                      </a:pPr>
                      <a:r>
                        <a:t>Stop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8. Software Control Firmware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9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Trigonometric Angle Calculations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Transmitter reads MPU6050 raw accelerations over the I2C bus and calculates hand Pitch and Roll angles using trigonometric atan2 functions.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Vibration Complementary Filtering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Applies complementary filtering to raw angles, blending accelerometer and gyroscope vectors to remove high-frequency motor vibrations.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Structured Payload Broadcasting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Maps Pitch/Roll values to 0-254 integers, packages them in a structured payload, and broadcasts via ESP-NOW to the receiver.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Callback Direction Decoding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Receiver decodes packets instantly inside an ESP-NOW callback, driving the H-bridges based on calibrated tilt thresholds.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9. Calibration &amp; Physical Assembly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10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Sensor Threshold Calibration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Neutral flat state mapped to 310-350. Directional tilt triggers are set at boundaries (&lt; 290 and &gt; 370) to prevent accidental movements.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Wearable Control Glove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MPU6050 sensor, ESP32 transmitter, and a slide power switch integrated onto a wearable glove for comfortable, intuitive hand gestures.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Assembled 4WD Vehicle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Dual shaft BO motors, L298N drivers, 18650 battery pack, and ESP32 receiver consolidated onto a stable dual-deck acrylic robot chassis.</a:t>
            </a:r>
          </a:p>
        </p:txBody>
      </p:sp>
      <p:pic>
        <p:nvPicPr>
          <p:cNvPr id="8" name="Picture 7" descr="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2468880" cy="4023360"/>
          </a:xfrm>
          <a:prstGeom prst="rect">
            <a:avLst/>
          </a:prstGeom>
          <a:ln w="12700">
            <a:solidFill>
              <a:srgbClr val="DCDCDC"/>
            </a:solidFill>
          </a:ln>
        </p:spPr>
      </p:pic>
      <p:pic>
        <p:nvPicPr>
          <p:cNvPr id="9" name="Picture 8" descr="img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645920"/>
            <a:ext cx="2468880" cy="4023360"/>
          </a:xfrm>
          <a:prstGeom prst="rect">
            <a:avLst/>
          </a:prstGeom>
          <a:ln w="12700">
            <a:solidFill>
              <a:srgbClr val="DCDCD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10. Performance Testing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11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Signal Latency Metrics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Achieves a highly responsive latency of 8 ms from hand tilt to motor reaction.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Wireless Range Testing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Maintains a stable, error-free line-of-sight wireless control range of up to 45 meters.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Operational Battery Runtime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Two series 18650 Li-Ion cells supply 45 minutes of continuous run time under full load.</a:t>
            </a:r>
          </a:p>
        </p:txBody>
      </p:sp>
      <p:pic>
        <p:nvPicPr>
          <p:cNvPr id="8" name="Picture 7" descr="img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2194560" cy="4023360"/>
          </a:xfrm>
          <a:prstGeom prst="rect">
            <a:avLst/>
          </a:prstGeom>
          <a:ln w="12700">
            <a:solidFill>
              <a:srgbClr val="DCDCDC"/>
            </a:solidFill>
          </a:ln>
        </p:spPr>
      </p:pic>
      <p:pic>
        <p:nvPicPr>
          <p:cNvPr id="9" name="Picture 8" descr="img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645920"/>
            <a:ext cx="2194560" cy="4023360"/>
          </a:xfrm>
          <a:prstGeom prst="rect">
            <a:avLst/>
          </a:prstGeom>
          <a:ln w="12700">
            <a:solidFill>
              <a:srgbClr val="DCDCDC"/>
            </a:solidFill>
          </a:ln>
        </p:spPr>
      </p:pic>
      <p:pic>
        <p:nvPicPr>
          <p:cNvPr id="10" name="Picture 9" descr="img5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1645920"/>
            <a:ext cx="2194560" cy="4023360"/>
          </a:xfrm>
          <a:prstGeom prst="rect">
            <a:avLst/>
          </a:prstGeom>
          <a:ln w="12700">
            <a:solidFill>
              <a:srgbClr val="DCDCD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00000"/>
                </a:solidFill>
                <a:latin typeface="Calibri"/>
              </a:defRPr>
            </a:pPr>
            <a:r>
              <a:t>11. Conclusions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728655" cy="13716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126480"/>
            <a:ext cx="10728655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87878"/>
                </a:solidFill>
                <a:latin typeface="Calibri"/>
              </a:defRPr>
            </a:pPr>
            <a:r>
              <a:t>GESTURE CONTROLLED WIRELESS 4WD ROBOTIC CAR  |  MINI-PROJECT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787878"/>
                </a:solidFill>
                <a:latin typeface="Calibri"/>
              </a:defRPr>
            </a:pPr>
            <a:r>
              <a:t>Slide 12 of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Successful System Realization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Realized a low-latency connectionless ESP-NOW mobile robotic vehicle driven by wearable MPU6050 accelerometer wrist tilt gestures, providing a highly intuitive and responsive HMI interface.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Stable Physical Verification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System calibration and trials verified instant directional response (Forward, Reverse, Lateral Left/Right, Diagonal Drift) with high noise immunity and battery efficiency.</a:t>
            </a:r>
          </a:p>
          <a:p>
            <a:pPr>
              <a:spcBef>
                <a:spcPts val="1200"/>
              </a:spcBef>
              <a:defRPr sz="1500" b="1">
                <a:solidFill>
                  <a:srgbClr val="000000"/>
                </a:solidFill>
                <a:latin typeface="Calibri"/>
              </a:defRPr>
            </a:pPr>
            <a:r>
              <a:t>Future Research and Enhancements</a:t>
            </a:r>
          </a:p>
          <a:p>
            <a:pPr>
              <a:spcAft>
                <a:spcPts val="800"/>
              </a:spcAft>
              <a:defRPr sz="1250">
                <a:solidFill>
                  <a:srgbClr val="3C3C3C"/>
                </a:solidFill>
                <a:latin typeface="Calibri"/>
              </a:defRPr>
            </a:pPr>
            <a:r>
              <a:t>Planned expansions include replacing L298N drivers with high-efficiency TB6612FNG drivers, integrating ultrasonic and LiDAR sensors for autonomous obstacle avoidance, implementing Kalman filters for sensor fusion, and integrating with the Robot Operating System (ROS) for warehouse routing.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