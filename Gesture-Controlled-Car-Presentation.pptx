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1. Introduction &amp; Project Overview</a:t>
            </a:r>
          </a:p>
          <a:p>
            <a:pPr>
              <a:spcAft>
                <a:spcPts val="20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2. System Architecture Design</a:t>
            </a:r>
          </a:p>
          <a:p>
            <a:pPr>
              <a:spcAft>
                <a:spcPts val="20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3. Transmitter Hardware Components</a:t>
            </a:r>
          </a:p>
          <a:p>
            <a:pPr>
              <a:spcAft>
                <a:spcPts val="20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4. Receiver Hardware Components</a:t>
            </a:r>
          </a:p>
          <a:p>
            <a:pPr>
              <a:spcAft>
                <a:spcPts val="20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5. Circuit Integration &amp; Wiring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6. Wireless Protocol: ESP-NOW</a:t>
            </a:r>
          </a:p>
          <a:p>
            <a:pPr>
              <a:spcAft>
                <a:spcPts val="20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7. Mecanum Wheel Kinematics</a:t>
            </a:r>
          </a:p>
          <a:p>
            <a:pPr>
              <a:spcAft>
                <a:spcPts val="20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8. Software Control Firmware</a:t>
            </a:r>
          </a:p>
          <a:p>
            <a:pPr>
              <a:spcAft>
                <a:spcPts val="20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9. Calibration &amp; Physical Assembly</a:t>
            </a:r>
          </a:p>
          <a:p>
            <a:pPr>
              <a:spcAft>
                <a:spcPts val="20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10. Performance Testing &amp; Future Scope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1. Introduction &amp;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Natural Human-Machine Interfaces (HMI): Traditional joysticks and remote controllers require physical contact and manual dexterity. This project provides an intuitive alternative.</a:t>
            </a:r>
          </a:p>
          <a:p>
            <a:pPr>
              <a:spcAft>
                <a:spcPts val="2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Gesture-Based Motion Control: Translates natural wrist tilt gestures (Pitch and Roll orientation angles) directly into mobile chassis steering vectors.</a:t>
            </a:r>
          </a:p>
          <a:p>
            <a:pPr>
              <a:spcAft>
                <a:spcPts val="2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ESP32 Microcontrollers: High-performance microcontrollers establish a direct peer-to-peer 2.4 GHz connection without a wireless router.</a:t>
            </a:r>
          </a:p>
          <a:p>
            <a:pPr>
              <a:spcAft>
                <a:spcPts val="2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Core System Applications: Ideal for heavy warehouse logistics, search-and-rescue operations in hazardous environments, and assisting individuals with limited mobility.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2. System Architecture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Transmitter Wearable Glove: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Interfaces the MPU6050 6-axis motion sensor with the transmitter ESP32 to compute static tilt angles.</a:t>
            </a:r>
          </a:p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Direct Wireless Link: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Transmits orientation packages wirelessly via connectionless ESP-NOW protocol at 2.4 GHz.</a:t>
            </a:r>
          </a:p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Receiver Mobile Chassis: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Decodes the incoming commands and regulates motor speed and direction using dual L298N motor drivers.</a:t>
            </a:r>
          </a:p>
        </p:txBody>
      </p:sp>
      <p:pic>
        <p:nvPicPr>
          <p:cNvPr id="4" name="Picture 3" descr="block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3. Transmitter Hardware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ESP32 Dev Board (Transmitter):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32-bit dual-core processor running at 240 MHz. Reads sensor data and packages wireless commands.</a:t>
            </a:r>
          </a:p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MPU6050 6-Axis Motion Sensor: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Combines a 3-axis accelerometer and a 3-axis gyroscope on a single silicon die. Measures gravitational tilt.</a:t>
            </a:r>
          </a:p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I2C Serial Interface: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Communicates over the I2C bus: SDA connected to GPIO 21, SCL connected to GPIO 22.</a:t>
            </a:r>
          </a:p>
        </p:txBody>
      </p:sp>
      <p:pic>
        <p:nvPicPr>
          <p:cNvPr id="4" name="Picture 3" descr="comp-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4. Receiver Hardware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ESP32 Dev Board (Receiver):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Receives ESP-NOW packet payloads, triggers callback routines, and generates PWM/digital logic.</a:t>
            </a:r>
          </a:p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Dual L298N H-Bridge Drivers: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Provides current amplification (up to 2A per channel) and independent speed/direction control to all 4 motors.</a:t>
            </a:r>
          </a:p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Actuators &amp; Power Pack: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Four 200 RPM dual shaft BO geared motors powered by a high-capacity 7.4V series 18650 Li-Ion battery pack.</a:t>
            </a:r>
          </a:p>
        </p:txBody>
      </p:sp>
      <p:pic>
        <p:nvPicPr>
          <p:cNvPr id="4" name="Picture 3" descr="comp-img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5. Circuit Integration &amp; 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Direct Pin Assignments: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Maintains independent inputs: ENA, IN1-IN4, and ENB for both Front and Back driver boards.</a:t>
            </a:r>
          </a:p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PWM Speed Control: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ESP32 outputs analog-mapped PWM values (0-255) to the ENA/ENB enable pins to regulate motor speed.</a:t>
            </a:r>
          </a:p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Common Ground System: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Requires tying the GND pins of the ESP32, battery pack, and driver boards together to establish a stable reference voltage.</a:t>
            </a:r>
          </a:p>
        </p:txBody>
      </p:sp>
      <p:pic>
        <p:nvPicPr>
          <p:cNvPr id="4" name="Picture 3" descr="l298n_motordriver_pinout_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6. Wireless Protocol: ESP-NOW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Connectionless Communication: Operates directly on the 2.4 GHz band. Bypasses the pairing, handshaking, and router routing overhead of standard Wi-Fi.</a:t>
            </a:r>
          </a:p>
          <a:p>
            <a:pPr>
              <a:spcAft>
                <a:spcPts val="2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Ultra-Low Latency: Minimizes command propagation delays to under 10 milliseconds, enabling instantaneous chassis response to hand gestures.</a:t>
            </a:r>
          </a:p>
          <a:p>
            <a:pPr>
              <a:spcAft>
                <a:spcPts val="2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Media Access Control (MAC) Address Pairing: Secure peer-to-peer unicast connection requires uploading a helper sketch to read the receiver's physical 48-bit MAC address.</a:t>
            </a:r>
          </a:p>
          <a:p>
            <a:pPr>
              <a:spcAft>
                <a:spcPts val="2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Transmission Range: Achieves a stable, noise-immune operational range of up to 45 meters under active line-of-sight test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7. Mecanum Wheel Kinematics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Holonomic Steering Mechanics: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Rollers mounted at 45-degree angles create directional force vectors that combine to allow lateral sliding, diagonal drive, and spot rotation.</a:t>
            </a:r>
          </a:p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Movement Matrix Logic: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Controlling individual wheel rotation directions enables 360-degree holonomic mobility without changing vehicle orientation.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0" y="1645920"/>
          <a:ext cx="6400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Robot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FL Wheel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 Wheel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BL Wheel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BR Wheel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Forward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Backward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Reverse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Lateral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Reverse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Lateral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Forward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t>Stop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8. Software Control Firmware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Orientation Calculations: Transmitter reads raw accelerometer data from the MPU6050 over the hardware I2C bus and calculates hand Pitch and Roll angles using trigonometric functions.</a:t>
            </a:r>
          </a:p>
          <a:p>
            <a:pPr>
              <a:spcAft>
                <a:spcPts val="2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Noise Filtering: Compliments raw values using complementary filters to eliminate high-frequency engine and chassis vibrations.</a:t>
            </a:r>
          </a:p>
          <a:p>
            <a:pPr>
              <a:spcAft>
                <a:spcPts val="2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Mapping &amp; Struct Packaging: Maps calculated tilt angles to a standard 0-254 range. Structures and broadcasts data packets to the receiver MAC.</a:t>
            </a:r>
          </a:p>
          <a:p>
            <a:pPr>
              <a:spcAft>
                <a:spcPts val="24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Decisive Steering: Receiver callback function executes instantly. Reads structural data and steers the wheels based on threshold parameters (Neutral, Forward, Reverse, Left Slide, Right Slide, and Diagonal drift).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9. Calibration &amp; Physical Assembly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Threshold Calibration: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Neutral flat state mapped around values 310-350. Tilted states calibrated around thresholds (&lt; 290 and &gt; 370).</a:t>
            </a:r>
          </a:p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Wearable Gesture Glove Setup: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MPU6050 and ESP32 transmitter secured to a wearable glove to match natural hand movements.</a:t>
            </a:r>
          </a:p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Assembled 4WD Vehicle: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Geared BO motors, L298N drivers, battery pack, and ESP32 receiver consolidated onto a stable 4WD mobile platform.</a:t>
            </a:r>
          </a:p>
        </p:txBody>
      </p:sp>
      <p:pic>
        <p:nvPicPr>
          <p:cNvPr id="4" name="Picture 3" descr="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2468880" cy="4114800"/>
          </a:xfrm>
          <a:prstGeom prst="rect">
            <a:avLst/>
          </a:prstGeom>
        </p:spPr>
      </p:pic>
      <p:pic>
        <p:nvPicPr>
          <p:cNvPr id="5" name="Picture 4" descr="img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645920"/>
            <a:ext cx="2468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10. Performance Testing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Signal Latency: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Achieves a highly responsive latency of 8 ms.</a:t>
            </a:r>
          </a:p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Wireless Range: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Maintains stable wireless communication up to 45 meters.</a:t>
            </a:r>
          </a:p>
          <a:p>
            <a:pPr>
              <a:spcBef>
                <a:spcPts val="12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• Operating Time: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2200 mAh Li-Ion battery pack delivers 45 minutes of continuous operational runtime.</a:t>
            </a:r>
          </a:p>
        </p:txBody>
      </p:sp>
      <p:pic>
        <p:nvPicPr>
          <p:cNvPr id="4" name="Picture 3" descr="img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2194560" cy="4114800"/>
          </a:xfrm>
          <a:prstGeom prst="rect">
            <a:avLst/>
          </a:prstGeom>
        </p:spPr>
      </p:pic>
      <p:pic>
        <p:nvPicPr>
          <p:cNvPr id="5" name="Picture 4" descr="img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2194560" cy="4114800"/>
          </a:xfrm>
          <a:prstGeom prst="rect">
            <a:avLst/>
          </a:prstGeom>
        </p:spPr>
      </p:pic>
      <p:pic>
        <p:nvPicPr>
          <p:cNvPr id="6" name="Picture 5" descr="img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1645920"/>
            <a:ext cx="21945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11. Conclusions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Key System Realization: Successfully developed a low-latency connectionless ESP-NOW mobile robotic vehicle driven by wearable MPU6050 accelerometer wrist tilt gestures.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• Functional Execution: Physical calibration and testing confirmed instant steering response (Neutral, Forward, Reverse, Lateral Left/Right, Diagonal Drift) with high noise immunity.</a:t>
            </a:r>
          </a:p>
          <a:p>
            <a:pPr>
              <a:spcBef>
                <a:spcPts val="1200"/>
              </a:spcBef>
              <a:defRPr sz="1800" b="1">
                <a:solidFill>
                  <a:srgbClr val="000000"/>
                </a:solidFill>
                <a:latin typeface="Arial"/>
              </a:defRPr>
            </a:pPr>
            <a:r>
              <a:t>• Core Future Directions: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- Replace L298N drivers with high-efficiency TB6612FNG drivers to optimize current draw.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- Integrate ultrasonic and LiDAR sensors to implement autonomous obstacle avoidance.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- Implement sensor fusion and Kalman filtering for precise gyroscope angle tracking.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  - Integrate with the Robot Operating System (ROS) for autonomous warehouse fleet routing.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